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eb857be7a204664" /><Relationship Type="http://schemas.openxmlformats.org/package/2006/relationships/metadata/core-properties" Target="/docProps/core.xml" Id="R45762507bc494a28" /><Relationship Type="http://schemas.openxmlformats.org/officeDocument/2006/relationships/extended-properties" Target="/docProps/app.xml" Id="R9e8db9c0e86b4e92" /><Relationship Type="http://schemas.openxmlformats.org/officeDocument/2006/relationships/custom-properties" Target="/docProps/custom.xml" Id="Rb56b4d5f3ee348f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8d2c291d2f74580"/>
  </p:notesMasterIdLst>
  <p:sldIdLst>
    <p:sldId id="256" r:id="Ra006934b106146e5"/>
    <p:sldId id="257" r:id="R7ad83398f9fd48e3"/>
    <p:sldId id="258" r:id="R43187bd7c83d48f7"/>
    <p:sldId id="259" r:id="R793dbc2cafc14bd5"/>
    <p:sldId id="260" r:id="R049b2f7006934f53"/>
    <p:sldId id="261" r:id="R4e07f797fd1b4f1f"/>
    <p:sldId id="262" r:id="Rf6d5515e5e1d4622"/>
    <p:sldId id="263" r:id="R5ca00106dcd3417a"/>
    <p:sldId id="264" r:id="Ra553ad1010a34690"/>
    <p:sldId id="265" r:id="R98b0cc1975504f1d"/>
    <p:sldId id="266" r:id="R09e824057f334ee2"/>
    <p:sldId id="267" r:id="R6e7d6efc1f87486b"/>
    <p:sldId id="268" r:id="R0345a6e8eef54a03"/>
    <p:sldId id="269" r:id="R513b6d240c89400c"/>
    <p:sldId id="270" r:id="R50256ccb5b744f60"/>
    <p:sldId id="271" r:id="R5565d55d33c449c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006934b106146e5" /><Relationship Type="http://schemas.openxmlformats.org/officeDocument/2006/relationships/notesMaster" Target="/ppt/notesMasters/notesMaster1.xml" Id="Rb8d2c291d2f74580" /><Relationship Type="http://schemas.openxmlformats.org/officeDocument/2006/relationships/slide" Target="/ppt/slides/slide2.xml" Id="R7ad83398f9fd48e3" /><Relationship Type="http://schemas.openxmlformats.org/officeDocument/2006/relationships/slide" Target="/ppt/slides/slide3.xml" Id="R43187bd7c83d48f7" /><Relationship Type="http://schemas.openxmlformats.org/officeDocument/2006/relationships/slide" Target="/ppt/slides/slide4.xml" Id="R793dbc2cafc14bd5" /><Relationship Type="http://schemas.openxmlformats.org/officeDocument/2006/relationships/slide" Target="/ppt/slides/slide5.xml" Id="R049b2f7006934f53" /><Relationship Type="http://schemas.openxmlformats.org/officeDocument/2006/relationships/slide" Target="/ppt/slides/slide6.xml" Id="R4e07f797fd1b4f1f" /><Relationship Type="http://schemas.openxmlformats.org/officeDocument/2006/relationships/slide" Target="/ppt/slides/slide7.xml" Id="Rf6d5515e5e1d4622" /><Relationship Type="http://schemas.openxmlformats.org/officeDocument/2006/relationships/slide" Target="/ppt/slides/slide8.xml" Id="R5ca00106dcd3417a" /><Relationship Type="http://schemas.openxmlformats.org/officeDocument/2006/relationships/slide" Target="/ppt/slides/slide9.xml" Id="Ra553ad1010a34690" /><Relationship Type="http://schemas.openxmlformats.org/officeDocument/2006/relationships/slide" Target="/ppt/slides/slide10.xml" Id="R98b0cc1975504f1d" /><Relationship Type="http://schemas.openxmlformats.org/officeDocument/2006/relationships/slide" Target="/ppt/slides/slide11.xml" Id="R09e824057f334ee2" /><Relationship Type="http://schemas.openxmlformats.org/officeDocument/2006/relationships/slide" Target="/ppt/slides/slide12.xml" Id="R6e7d6efc1f87486b" /><Relationship Type="http://schemas.openxmlformats.org/officeDocument/2006/relationships/slide" Target="/ppt/slides/slide13.xml" Id="R0345a6e8eef54a03" /><Relationship Type="http://schemas.openxmlformats.org/officeDocument/2006/relationships/slide" Target="/ppt/slides/slide14.xml" Id="R513b6d240c89400c" /><Relationship Type="http://schemas.openxmlformats.org/officeDocument/2006/relationships/slide" Target="/ppt/slides/slide15.xml" Id="R50256ccb5b744f60" /><Relationship Type="http://schemas.openxmlformats.org/officeDocument/2006/relationships/slide" Target="/ppt/slides/slide16.xml" Id="R5565d55d33c4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390f2f22b0425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6ce82ee3664d2f" /><Relationship Type="http://schemas.openxmlformats.org/officeDocument/2006/relationships/slide" Target="/ppt/slides/slide1.xml" Id="R20b73064fa6341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53aabc01944141" /><Relationship Type="http://schemas.openxmlformats.org/officeDocument/2006/relationships/slide" Target="/ppt/slides/slide2.xml" Id="R4779eca1579446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a3860b2d81481e" /><Relationship Type="http://schemas.openxmlformats.org/officeDocument/2006/relationships/slide" Target="/ppt/slides/slide3.xml" Id="R9510af6e3be5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47e3276d934458" /><Relationship Type="http://schemas.openxmlformats.org/officeDocument/2006/relationships/slide" Target="/ppt/slides/slide4.xml" Id="R974ff7e118e840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c032e908634330" /><Relationship Type="http://schemas.openxmlformats.org/officeDocument/2006/relationships/slide" Target="/ppt/slides/slide5.xml" Id="Re1c2629e0a3249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61db1284344bd7" /><Relationship Type="http://schemas.openxmlformats.org/officeDocument/2006/relationships/slide" Target="/ppt/slides/slide6.xml" Id="R17d2000b64c0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d545a4428e14fe2" /><Relationship Type="http://schemas.openxmlformats.org/officeDocument/2006/relationships/slide" Target="/ppt/slides/slide7.xml" Id="R2da8fe035d9347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5a261e02164e10" /><Relationship Type="http://schemas.openxmlformats.org/officeDocument/2006/relationships/slide" Target="/ppt/slides/slide8.xml" Id="Rd01765c6a294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cc3041a4534a2b" /><Relationship Type="http://schemas.openxmlformats.org/officeDocument/2006/relationships/slide" Target="/ppt/slides/slide9.xml" Id="R876b82f845a64c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52e1934a95405f" /><Relationship Type="http://schemas.openxmlformats.org/officeDocument/2006/relationships/slide" Target="/ppt/slides/slide10.xml" Id="R3ae356772cf944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20a98bcfa264036" /><Relationship Type="http://schemas.openxmlformats.org/officeDocument/2006/relationships/slide" Target="/ppt/slides/slide11.xml" Id="R36f8bf558d95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364e3bbb0b49b6" /><Relationship Type="http://schemas.openxmlformats.org/officeDocument/2006/relationships/slide" Target="/ppt/slides/slide12.xml" Id="Rb46dcdbec1384f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c44ae7a1e94f88" /><Relationship Type="http://schemas.openxmlformats.org/officeDocument/2006/relationships/slide" Target="/ppt/slides/slide13.xml" Id="R7a374e40e90c41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e71f1b7d7d46c9" /><Relationship Type="http://schemas.openxmlformats.org/officeDocument/2006/relationships/slide" Target="/ppt/slides/slide14.xml" Id="R92f851b6701048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78a93ecb934655" /><Relationship Type="http://schemas.openxmlformats.org/officeDocument/2006/relationships/slide" Target="/ppt/slides/slide15.xml" Id="R64059dcf8fed45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903321d6674145" /><Relationship Type="http://schemas.openxmlformats.org/officeDocument/2006/relationships/slide" Target="/ppt/slides/slide16.xml" Id="R4fcee0b26f26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Fill in your personal details: Student Name, Course, and College.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Introduce the project and the dataset. Mention that this is a college data analytics project using Python and Streamlit on the popular Superstore dataset from Kaggle.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business problem clearly. The superstore has thousands of transactions but without analysis, important patterns remain hidden. The dashboard solves this.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12 core objectives. Emphasize that the dashboard is fully dynamic and all numbers update based on the sidebar filters applied.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statistics on this slide come directly from the CSV dataset. Total rows 9994, columns 21, date range 2014-2017.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data cleaning process and the new features created. Mention that Profit Margin is calculated safely with zero-division protection.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each technology used. Emphasize that this is a pure Python EDA project — no machine learning, no SQL databases, no external APIs.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Describe the three-layer architecture: Sidebar (filters), Main area (KPIs + Tabs), Chart layer (Plotly). Mention that @st.cache_data is used for performance.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figures are sourced directly from the dataset. Technology is the top category by sales. The West region leads in sales. 301 products have negative profit.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Consumer segment leads in sales at 50.6%. Technology has the highest profit by category. Tables sub-category has the largest loss at -$17,725.48.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insights are computed directly from the dataset. No values are fabricated. Remind the audience that correlation is not causation.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Summarize what was built. Mention that none of the future scope features are implemented — they are suggested directions for extension.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Left: Dashboard Overview with real KPI cards showing $2.3M sales, $286K profit, 5009 orders, 12.47% profit margin. Right: Sales Analysis tab showing year-over-year and quarterly trends.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Left: Product Analysis showing Canon imageCLASS as top product ($61,599 sales). Right: Regional comparison showing West region leading in both sales and profit.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Business Insights tab showing dynamically generated insights from the actual dataset. Insights include top sales category (Technology $836K), top sales region (West $725K), and others.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Final slide with project links. Replace the Streamlit link with the actual URL once deployed.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a9cbc1a854e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a412648f741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6e67a215b4a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2d7b0d6f54e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9d265add44b6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94251d1c71943d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adf0e503141ed" /><Relationship Type="http://schemas.openxmlformats.org/officeDocument/2006/relationships/notesSlide" Target="/ppt/notesSlides/notesSlide1.xml" Id="Rdfb9c3d11ef340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ad7ef15f34313" /><Relationship Type="http://schemas.openxmlformats.org/officeDocument/2006/relationships/notesSlide" Target="/ppt/notesSlides/notesSlide2.xml" Id="Rd1fd708ba04d4f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d4f7899f49e9" /><Relationship Type="http://schemas.openxmlformats.org/officeDocument/2006/relationships/notesSlide" Target="/ppt/notesSlides/notesSlide3.xml" Id="Rc277d30d518546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0e31010c415d" /><Relationship Type="http://schemas.openxmlformats.org/officeDocument/2006/relationships/notesSlide" Target="/ppt/notesSlides/notesSlide4.xml" Id="R335918ff9536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2de62849a4686" /><Relationship Type="http://schemas.openxmlformats.org/officeDocument/2006/relationships/notesSlide" Target="/ppt/notesSlides/notesSlide5.xml" Id="R7e89dda282e94e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dd5e0e65346b2" /><Relationship Type="http://schemas.openxmlformats.org/officeDocument/2006/relationships/notesSlide" Target="/ppt/notesSlides/notesSlide6.xml" Id="R8e179b7839bb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5b1d0843f47a1" /><Relationship Type="http://schemas.openxmlformats.org/officeDocument/2006/relationships/notesSlide" Target="/ppt/notesSlides/notesSlide7.xml" Id="Rb4619ee1efbf4a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8fcfb18154574" /><Relationship Type="http://schemas.openxmlformats.org/officeDocument/2006/relationships/notesSlide" Target="/ppt/notesSlides/notesSlide8.xml" Id="R4aa8d7def69b44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a877addeb40a2" /><Relationship Type="http://schemas.openxmlformats.org/officeDocument/2006/relationships/notesSlide" Target="/ppt/notesSlides/notesSlide9.xml" Id="Rf499d9f68a0e42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18e15bb5f4be9" /><Relationship Type="http://schemas.openxmlformats.org/officeDocument/2006/relationships/notesSlide" Target="/ppt/notesSlides/notesSlide10.xml" Id="Rd0c00198e9ee45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37fd67d134cd8" /><Relationship Type="http://schemas.openxmlformats.org/officeDocument/2006/relationships/notesSlide" Target="/ppt/notesSlides/notesSlide11.xml" Id="R44b03b8485cb4f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b30fc10484bf7" /><Relationship Type="http://schemas.openxmlformats.org/officeDocument/2006/relationships/notesSlide" Target="/ppt/notesSlides/notesSlide12.xml" Id="R63cacfd73a174b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b19a0626e41c9" /><Relationship Type="http://schemas.openxmlformats.org/officeDocument/2006/relationships/image" Target="/ppt/media/image.png" Id="R84d57020068247e2" /><Relationship Type="http://schemas.openxmlformats.org/officeDocument/2006/relationships/image" Target="/ppt/media/image2.png" Id="R3e16606dba3b4661" /><Relationship Type="http://schemas.openxmlformats.org/officeDocument/2006/relationships/notesSlide" Target="/ppt/notesSlides/notesSlide13.xml" Id="R7fca02681740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e4164a66647f9" /><Relationship Type="http://schemas.openxmlformats.org/officeDocument/2006/relationships/image" Target="/ppt/media/image3.png" Id="R55ee6cda179e4174" /><Relationship Type="http://schemas.openxmlformats.org/officeDocument/2006/relationships/image" Target="/ppt/media/image4.png" Id="R947f24ffd0eb4051" /><Relationship Type="http://schemas.openxmlformats.org/officeDocument/2006/relationships/notesSlide" Target="/ppt/notesSlides/notesSlide14.xml" Id="Rdeaa431a65a44e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7f273bcef40bb" /><Relationship Type="http://schemas.openxmlformats.org/officeDocument/2006/relationships/image" Target="/ppt/media/image5.png" Id="R34513ad1d19c47ff" /><Relationship Type="http://schemas.openxmlformats.org/officeDocument/2006/relationships/notesSlide" Target="/ppt/notesSlides/notesSlide15.xml" Id="R398534e45d3f4c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c754836164faf" /><Relationship Type="http://schemas.openxmlformats.org/officeDocument/2006/relationships/notesSlide" Target="/ppt/notesSlides/notesSlide16.xml" Id="R93c8cbf8be8942ba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MainTitle"/>
          <p:cNvSpPr txBox="1"/>
          <p:nvPr/>
        </p:nvSpPr>
        <p:spPr>
          <a:xfrm xmlns:a="http://schemas.openxmlformats.org/drawingml/2006/main">
            <a:off x="540000" y="90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Superstore Sales &amp; Profit</a:t>
            </a:r>
          </a:p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540000" y="288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A8C4E0"/>
                </a:solidFill>
              </a:rPr>
              <a:t>An Interactive Data Analytics Project using Python &amp; Streamlit</a:t>
            </a:r>
          </a:p>
        </p:txBody>
      </p:sp>
      <p:sp>
        <p:nvSpPr>
          <p:cNvPr id="100002" name="Info"/>
          <p:cNvSpPr txBox="1"/>
          <p:nvPr/>
        </p:nvSpPr>
        <p:spPr>
          <a:xfrm xmlns:a="http://schemas.openxmlformats.org/drawingml/2006/main">
            <a:off x="540000" y="396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pPr algn="ctr"/>
            <a:r>
              <a:rPr lang="en-US" sz="1400">
                <a:solidFill>
                  <a:srgbClr val="C8D8E8"/>
                </a:solidFill>
              </a:rPr>
              <a:t>Presented by: Shreya Jha</a:t>
            </a:r>
          </a:p>
          <a:p>
            <a:pPr algn="ctr"/>
            <a:r>
              <a:rPr lang="en-US" sz="1400">
                <a:solidFill>
                  <a:srgbClr val="C8D8E8"/>
                </a:solidFill>
              </a:rPr>
              <a:t>College: Indian Institute of Technology Patna</a:t>
            </a:r>
          </a:p>
          <a:p>
            <a:pPr algn="ctr"/>
            <a:r>
              <a:rPr lang="en-US" sz="1400">
                <a:solidFill>
                  <a:srgbClr val="C8D8E8"/>
                </a:solidFill>
              </a:rPr>
              <a:t>Program: AICTE–BharatCares–IBM SkillsBuild Internship Program</a:t>
            </a:r>
          </a:p>
        </p:txBody>
      </p:sp>
      <p:sp>
        <p:nvSpPr>
          <p:cNvPr id="100003" name="Dataset"/>
          <p:cNvSpPr txBox="1"/>
          <p:nvPr/>
        </p:nvSpPr>
        <p:spPr>
          <a:xfrm xmlns:a="http://schemas.openxmlformats.org/drawingml/2006/main">
            <a:off x="540000" y="46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90AABE"/>
                </a:solidFill>
              </a:rPr>
              <a:t>Dataset: Sample Superstore | Source: Kaggle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Introduction</a:t>
            </a:r>
          </a:p>
        </p:txBody>
      </p:sp>
      <p:sp>
        <p:nvSpPr>
          <p:cNvPr id="100005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06" name="Col1"/>
          <p:cNvSpPr txBox="1"/>
          <p:nvPr/>
        </p:nvSpPr>
        <p:spPr>
          <a:xfrm xmlns:a="http://schemas.openxmlformats.org/drawingml/2006/main">
            <a:off x="360000" y="1008000"/>
            <a:ext cx="522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What is this project?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This project is a comprehensive data analytics dashboard built using Python and Streamlit. It analyzes the Superstore retail transaction dataset from Kaggle to uncover business insights about sales, profitability, customers, products, and regional performance.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The dashboard provides an interactive interface for exploring and filtering data in real time.</a:t>
            </a:r>
          </a:p>
        </p:txBody>
      </p:sp>
      <p:sp>
        <p:nvSpPr>
          <p:cNvPr id="100007" name="Col2"/>
          <p:cNvSpPr txBox="1"/>
          <p:nvPr/>
        </p:nvSpPr>
        <p:spPr>
          <a:xfrm xmlns:a="http://schemas.openxmlformats.org/drawingml/2006/main">
            <a:off x="5940000" y="1008000"/>
            <a:ext cx="522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About the Superstore Dataset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The Superstore dataset represents 4 years of US retail sales transactions (2014-2017) from a fictional superstore. It includes: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- 9,994 order line items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- 21 data columns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- 4 regions across the United States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- 3 product categories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- 17 sub-categories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- 793 unique customers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Data analytics helps this business understand what drives profit and where losses occur.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8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Problem Statement</a:t>
            </a:r>
          </a:p>
        </p:txBody>
      </p:sp>
      <p:sp>
        <p:nvSpPr>
          <p:cNvPr id="100009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10" name="ProblemBody"/>
          <p:cNvSpPr txBox="1"/>
          <p:nvPr/>
        </p:nvSpPr>
        <p:spPr>
          <a:xfrm xmlns:a="http://schemas.openxmlformats.org/drawingml/2006/main">
            <a:off x="360000" y="1008000"/>
            <a:ext cx="1116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The Business Challenge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Large retail businesses process thousands of transactions every month. Without structured analysis, it becomes very difficult to answer critical business questions: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Which products are generating profit — and which are creating losses?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Which regions, states, and cities are underperforming?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Which customer segments drive the most revenue?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How do discounts affect overall profitability?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What seasonal patterns exist in sales and profit trends?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  Which sub-categories need pricing or discount policy changes?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This project addresses this challenge by building an interactive analytics dashboard that transforms raw transaction data into clear, actionable business insights using only Python-based tools.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Project Objectives</a:t>
            </a:r>
          </a:p>
        </p:txBody>
      </p:sp>
      <p:sp>
        <p:nvSpPr>
          <p:cNvPr id="100012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13" name="ObjCol1"/>
          <p:cNvSpPr txBox="1"/>
          <p:nvPr/>
        </p:nvSpPr>
        <p:spPr>
          <a:xfrm xmlns:a="http://schemas.openxmlformats.org/drawingml/2006/main">
            <a:off x="360000" y="1008000"/>
            <a:ext cx="5400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Core Objectives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1.  Automatically load and validate the Superstore CSV dataset.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2.  Perform complete Exploratory Data Analysis (EDA).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3.  Build an interactive Streamlit dashboard with sidebar filters.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4.  Display real-time KPI cards: Sales, Profit, Orders, Customers, Margin.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5.  Analyze sales trends across time, categories, regions, and segments.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6.  Identify top-performing and loss-making products and sub-categories.</a:t>
            </a:r>
          </a:p>
        </p:txBody>
      </p:sp>
      <p:sp>
        <p:nvSpPr>
          <p:cNvPr id="100014" name="ObjCol2"/>
          <p:cNvSpPr txBox="1"/>
          <p:nvPr/>
        </p:nvSpPr>
        <p:spPr>
          <a:xfrm xmlns:a="http://schemas.openxmlformats.org/drawingml/2006/main">
            <a:off x="6120000" y="1008000"/>
            <a:ext cx="5400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Analytical Objectives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7.  Analyze customer segments and identify top customers by revenue and profit.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8.  Compare regional and state-level sales and profitability.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9.  Examine the relationship between discounts and profit.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10.  Generate dynamic business insights directly from the data.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11.  Provide a downloadable CSV export of the filtered dataset.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12.  Present findings through a professional project presentation.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5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Dataset Overview</a:t>
            </a:r>
          </a:p>
        </p:txBody>
      </p:sp>
      <p:sp>
        <p:nvSpPr>
          <p:cNvPr id="100016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17" name="StatsBox"/>
          <p:cNvSpPr txBox="1"/>
          <p:nvPr/>
        </p:nvSpPr>
        <p:spPr>
          <a:xfrm xmlns:a="http://schemas.openxmlformats.org/drawingml/2006/main">
            <a:off x="360000" y="1008000"/>
            <a:ext cx="111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1E3A5F"/>
                </a:solidFill>
              </a:rPr>
              <a:t>Dataset: Sample - Superstore.csv   |   Source: Kaggle</a:t>
            </a:r>
          </a:p>
        </p:txBody>
      </p:sp>
      <p:sp>
        <p:nvSpPr>
          <p:cNvPr id="100018" name="StatsGrid"/>
          <p:cNvSpPr txBox="1"/>
          <p:nvPr/>
        </p:nvSpPr>
        <p:spPr>
          <a:xfrm xmlns:a="http://schemas.openxmlformats.org/drawingml/2006/main">
            <a:off x="360000" y="1404000"/>
            <a:ext cx="1116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Total Rows: 9,994          Total Columns: 21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Date Range: Jan 3, 2014 - Dec 30, 2017          Years Covered: 2014, 2015, 2016, 2017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Unique Customers: 793          Unique Products: 1,850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Unique Orders: 5,009          Total Quantity Sold: 37,873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Total Sales: $2,297,200.86          Total Profit: $286,397.02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Overall Profit Margin: 12.47%          Avg Order Value: $458.61</a:t>
            </a:r>
          </a:p>
        </p:txBody>
      </p:sp>
      <p:sp>
        <p:nvSpPr>
          <p:cNvPr id="100019" name="ColsLabel"/>
          <p:cNvSpPr txBox="1"/>
          <p:nvPr/>
        </p:nvSpPr>
        <p:spPr>
          <a:xfrm xmlns:a="http://schemas.openxmlformats.org/drawingml/2006/main">
            <a:off x="360000" y="3168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Key Columns</a:t>
            </a:r>
          </a:p>
        </p:txBody>
      </p:sp>
      <p:sp>
        <p:nvSpPr>
          <p:cNvPr id="100020" name="ColsLeft"/>
          <p:cNvSpPr txBox="1"/>
          <p:nvPr/>
        </p:nvSpPr>
        <p:spPr>
          <a:xfrm xmlns:a="http://schemas.openxmlformats.org/drawingml/2006/main">
            <a:off x="360000" y="3492000"/>
            <a:ext cx="54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Order ID, Order Date, Ship Date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Ship Mode, Customer ID, Customer Name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Segment, Country, City, State, Region</a:t>
            </a:r>
          </a:p>
        </p:txBody>
      </p:sp>
      <p:sp>
        <p:nvSpPr>
          <p:cNvPr id="100021" name="ColsRight"/>
          <p:cNvSpPr txBox="1"/>
          <p:nvPr/>
        </p:nvSpPr>
        <p:spPr>
          <a:xfrm xmlns:a="http://schemas.openxmlformats.org/drawingml/2006/main">
            <a:off x="6120000" y="3492000"/>
            <a:ext cx="54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Product ID, Category, Sub-Category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Product Name, Sales, Quantity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Discount, Profit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Data Cleaning &amp; Feature Engineering</a:t>
            </a:r>
          </a:p>
        </p:txBody>
      </p:sp>
      <p:sp>
        <p:nvSpPr>
          <p:cNvPr id="100023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24" name="CleaningTitle"/>
          <p:cNvSpPr txBox="1"/>
          <p:nvPr/>
        </p:nvSpPr>
        <p:spPr>
          <a:xfrm xmlns:a="http://schemas.openxmlformats.org/drawingml/2006/main">
            <a:off x="36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Data Cleaning Steps</a:t>
            </a:r>
          </a:p>
        </p:txBody>
      </p:sp>
      <p:sp>
        <p:nvSpPr>
          <p:cNvPr id="100025" name="CleaningBody"/>
          <p:cNvSpPr txBox="1"/>
          <p:nvPr/>
        </p:nvSpPr>
        <p:spPr>
          <a:xfrm xmlns:a="http://schemas.openxmlformats.org/drawingml/2006/main">
            <a:off x="360000" y="1368000"/>
            <a:ext cx="522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1.  Auto-detect and load CSV using Pandas.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2.  Check for missing values across all 21 columns (no missing values found).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3.  Check and remove duplicate rows if any exist.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4.  Convert Order Date and Ship Date to proper Pandas datetime format.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5.  Validate numeric columns: Sales, Profit, Quantity, Discount.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6.  Coerce invalid numeric values to NaN safely.</a:t>
            </a:r>
          </a:p>
        </p:txBody>
      </p:sp>
      <p:sp>
        <p:nvSpPr>
          <p:cNvPr id="100026" name="FETitle"/>
          <p:cNvSpPr txBox="1"/>
          <p:nvPr/>
        </p:nvSpPr>
        <p:spPr>
          <a:xfrm xmlns:a="http://schemas.openxmlformats.org/drawingml/2006/main">
            <a:off x="594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Feature Engineering</a:t>
            </a:r>
          </a:p>
        </p:txBody>
      </p:sp>
      <p:sp>
        <p:nvSpPr>
          <p:cNvPr id="100027" name="FEBody"/>
          <p:cNvSpPr txBox="1"/>
          <p:nvPr/>
        </p:nvSpPr>
        <p:spPr>
          <a:xfrm xmlns:a="http://schemas.openxmlformats.org/drawingml/2006/main">
            <a:off x="5940000" y="1368000"/>
            <a:ext cx="522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New columns created from Order Date: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Year  (e.g. 2014, 2015, 2016, 2017)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Month Number  (1-12)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Month Name  (Jan, Feb, ..., Dec)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Quarter  (Q1, Q2, Q3, Q4)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Day of Week  (Monday, Tuesday, ...)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Profit Margin calculation: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Profit Margin = (Profit / Sales) x 100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Division by zero is handled safely.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Results expressed as a percentage (%).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28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0029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30" name="Tech1"/>
          <p:cNvSpPr txBox="1"/>
          <p:nvPr/>
        </p:nvSpPr>
        <p:spPr>
          <a:xfrm xmlns:a="http://schemas.openxmlformats.org/drawingml/2006/main">
            <a:off x="360000" y="115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FFFFFF"/>
                </a:solidFill>
              </a:rPr>
              <a:t>Python</a:t>
            </a:r>
          </a:p>
          <a:p xmlns:a="http://schemas.openxmlformats.org/drawingml/2006/main">
            <a:pPr algn="ctr"/>
            <a:r>
              <a:rPr lang="en-US" sz="1700" b="0">
                <a:solidFill>
                  <a:srgbClr val="FFFFFF"/>
                </a:solidFill>
              </a:rPr>
              <a:t>Core Programming Language</a:t>
            </a:r>
          </a:p>
        </p:txBody>
      </p:sp>
      <p:sp>
        <p:nvSpPr>
          <p:cNvPr id="100031" name="Tech2"/>
          <p:cNvSpPr txBox="1"/>
          <p:nvPr/>
        </p:nvSpPr>
        <p:spPr>
          <a:xfrm xmlns:a="http://schemas.openxmlformats.org/drawingml/2006/main">
            <a:off x="4140000" y="115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Pandas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Data Loading, Cleaning &amp; Analysis</a:t>
            </a:r>
          </a:p>
        </p:txBody>
      </p:sp>
      <p:sp>
        <p:nvSpPr>
          <p:cNvPr id="100032" name="Tech3"/>
          <p:cNvSpPr txBox="1"/>
          <p:nvPr/>
        </p:nvSpPr>
        <p:spPr>
          <a:xfrm xmlns:a="http://schemas.openxmlformats.org/drawingml/2006/main">
            <a:off x="7920000" y="115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NumPy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Numerical Operations</a:t>
            </a:r>
          </a:p>
        </p:txBody>
      </p:sp>
      <p:sp>
        <p:nvSpPr>
          <p:cNvPr id="100033" name="Tech4"/>
          <p:cNvSpPr txBox="1"/>
          <p:nvPr/>
        </p:nvSpPr>
        <p:spPr>
          <a:xfrm xmlns:a="http://schemas.openxmlformats.org/drawingml/2006/main">
            <a:off x="360000" y="259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Plotly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Interactive Charts &amp; Visualizations</a:t>
            </a:r>
          </a:p>
        </p:txBody>
      </p:sp>
      <p:sp>
        <p:nvSpPr>
          <p:cNvPr id="100034" name="Tech5"/>
          <p:cNvSpPr txBox="1"/>
          <p:nvPr/>
        </p:nvSpPr>
        <p:spPr>
          <a:xfrm xmlns:a="http://schemas.openxmlformats.org/drawingml/2006/main">
            <a:off x="4140000" y="259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Streamlit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Web Dashboard &amp; UI Framework</a:t>
            </a:r>
          </a:p>
        </p:txBody>
      </p:sp>
      <p:sp>
        <p:nvSpPr>
          <p:cNvPr id="100035" name="Tech6"/>
          <p:cNvSpPr txBox="1"/>
          <p:nvPr/>
        </p:nvSpPr>
        <p:spPr>
          <a:xfrm xmlns:a="http://schemas.openxmlformats.org/drawingml/2006/main">
            <a:off x="7920000" y="259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Matplotlib / Seaborn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FFFFFF"/>
                </a:solidFill>
              </a:rPr>
              <a:t>Statistical Visualization (optional)</a:t>
            </a:r>
          </a:p>
        </p:txBody>
      </p:sp>
      <p:sp>
        <p:nvSpPr>
          <p:cNvPr id="100036" name="Note"/>
          <p:cNvSpPr txBox="1"/>
          <p:nvPr/>
        </p:nvSpPr>
        <p:spPr>
          <a:xfrm xmlns:a="http://schemas.openxmlformats.org/drawingml/2006/main">
            <a:off x="360000" y="4140000"/>
            <a:ext cx="11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8C4E0"/>
                </a:solidFill>
              </a:rPr>
              <a:t>All tools are open-source Python libraries. No SQL, ML, or external databases required.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7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Dashboard Architecture</a:t>
            </a:r>
          </a:p>
        </p:txBody>
      </p:sp>
      <p:sp>
        <p:nvSpPr>
          <p:cNvPr id="100038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39" name="SidebarBox"/>
          <p:cNvSpPr txBox="1"/>
          <p:nvPr/>
        </p:nvSpPr>
        <p:spPr>
          <a:xfrm xmlns:a="http://schemas.openxmlformats.org/drawingml/2006/main">
            <a:off x="360000" y="1008000"/>
            <a:ext cx="25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SIDEBAR FILTERS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Year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Region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State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Category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Sub-Category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Segment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Ship Mode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(All charts update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1E3A5F"/>
                </a:solidFill>
              </a:rPr>
              <a:t>when filters change)</a:t>
            </a:r>
          </a:p>
        </p:txBody>
      </p:sp>
      <p:sp>
        <p:nvSpPr>
          <p:cNvPr id="100040" name="KPIBox"/>
          <p:cNvSpPr txBox="1"/>
          <p:nvPr/>
        </p:nvSpPr>
        <p:spPr>
          <a:xfrm xmlns:a="http://schemas.openxmlformats.org/drawingml/2006/main">
            <a:off x="3240000" y="1008000"/>
            <a:ext cx="82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KPI CARDS (Top Row)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Total Sales  |  Total Profit  |  Total Orders  |  Quantity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Avg Order Value  |  Customers  |  Products  |  Profit Margin</a:t>
            </a:r>
          </a:p>
        </p:txBody>
      </p:sp>
      <p:sp>
        <p:nvSpPr>
          <p:cNvPr id="100041" name="TabsBox"/>
          <p:cNvSpPr txBox="1"/>
          <p:nvPr/>
        </p:nvSpPr>
        <p:spPr>
          <a:xfrm xmlns:a="http://schemas.openxmlformats.org/drawingml/2006/main">
            <a:off x="3240000" y="1908000"/>
            <a:ext cx="82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NAVIGATION TABS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Overview  |  Sales Analysis  |  Profitability  |  Product Analysis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Customer Analysis  |  Regional Analysis  |  Discount &amp; Time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Business Insights  |  Data Quality  |  Raw Data</a:t>
            </a:r>
          </a:p>
        </p:txBody>
      </p:sp>
      <p:sp>
        <p:nvSpPr>
          <p:cNvPr id="100042" name="ChartsBox"/>
          <p:cNvSpPr txBox="1"/>
          <p:nvPr/>
        </p:nvSpPr>
        <p:spPr>
          <a:xfrm xmlns:a="http://schemas.openxmlformats.org/drawingml/2006/main">
            <a:off x="3240000" y="2916000"/>
            <a:ext cx="82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CHARTS (Plotly Interactive)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Line Charts | Bar Charts | Pie/Donut Charts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Scatter Plots | Horizontal Bar Charts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All charts support hover tooltips and zoom</a:t>
            </a:r>
          </a:p>
        </p:txBody>
      </p:sp>
      <p:sp>
        <p:nvSpPr>
          <p:cNvPr id="100043" name="DataBox"/>
          <p:cNvSpPr txBox="1"/>
          <p:nvPr/>
        </p:nvSpPr>
        <p:spPr>
          <a:xfrm xmlns:a="http://schemas.openxmlformats.org/drawingml/2006/main">
            <a:off x="3240000" y="3924000"/>
            <a:ext cx="82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DATA LAYER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CSV loaded via Pandas  |  Cleaned &amp; validated  |  Features engineered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 @st.cache_data for performance  |  Download filtered CSV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4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Sales &amp; Product Analysis</a:t>
            </a:r>
          </a:p>
        </p:txBody>
      </p:sp>
      <p:sp>
        <p:nvSpPr>
          <p:cNvPr id="100045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46" name="SalesTitle"/>
          <p:cNvSpPr txBox="1"/>
          <p:nvPr/>
        </p:nvSpPr>
        <p:spPr>
          <a:xfrm xmlns:a="http://schemas.openxmlformats.org/drawingml/2006/main">
            <a:off x="36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Sales Findings (from dataset)</a:t>
            </a:r>
          </a:p>
        </p:txBody>
      </p:sp>
      <p:sp>
        <p:nvSpPr>
          <p:cNvPr id="100047" name="SalesBody"/>
          <p:cNvSpPr txBox="1"/>
          <p:nvPr/>
        </p:nvSpPr>
        <p:spPr>
          <a:xfrm xmlns:a="http://schemas.openxmlformats.org/drawingml/2006/main">
            <a:off x="360000" y="1368000"/>
            <a:ext cx="5220000" cy="41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Total Sales: $2,297,200.86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Sales by Category: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Technology:     $836,154.03  (36.4%)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Furniture:         $741,999.80  (32.3%)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Office Supplies: $719,047.03  (31.3%)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Sales by Region: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West:     $725,457.82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East:     $678,781.24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Central: $501,239.89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South:   $391,721.91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Sales by Year: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2014: $484,247.50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2015: $470,532.51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2016: $609,205.60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2017: $733,215.26  (Highest)</a:t>
            </a:r>
          </a:p>
        </p:txBody>
      </p:sp>
      <p:sp>
        <p:nvSpPr>
          <p:cNvPr id="100048" name="ProductTitle"/>
          <p:cNvSpPr txBox="1"/>
          <p:nvPr/>
        </p:nvSpPr>
        <p:spPr>
          <a:xfrm xmlns:a="http://schemas.openxmlformats.org/drawingml/2006/main">
            <a:off x="594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Top Product Findings</a:t>
            </a:r>
          </a:p>
        </p:txBody>
      </p:sp>
      <p:sp>
        <p:nvSpPr>
          <p:cNvPr id="100049" name="ProductBody"/>
          <p:cNvSpPr txBox="1"/>
          <p:nvPr/>
        </p:nvSpPr>
        <p:spPr>
          <a:xfrm xmlns:a="http://schemas.openxmlformats.org/drawingml/2006/main">
            <a:off x="5940000" y="1368000"/>
            <a:ext cx="5220000" cy="41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Top 3 Products by Sales: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1. Canon imageCLASS 2200 Copier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$61,599.82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2. Fellowes PB500 Binding Machine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$27,453.38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3. Cisco TelePresence EX90 Unit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$22,638.48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Top 3 Products by Profit: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1. Canon imageCLASS 2200 Copier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$25,199.93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2. Fellowes PB500 Binding Machine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$7,753.04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3. HP LaserJet 3310 Copier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    $6,983.88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Loss-making Products: 301 products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show negative profit in the dataset.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0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Customer &amp; Regional Analysis</a:t>
            </a:r>
          </a:p>
        </p:txBody>
      </p:sp>
      <p:sp>
        <p:nvSpPr>
          <p:cNvPr id="100051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52" name="CustTitle"/>
          <p:cNvSpPr txBox="1"/>
          <p:nvPr/>
        </p:nvSpPr>
        <p:spPr>
          <a:xfrm xmlns:a="http://schemas.openxmlformats.org/drawingml/2006/main">
            <a:off x="36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Customer Analysis</a:t>
            </a:r>
          </a:p>
        </p:txBody>
      </p:sp>
      <p:sp>
        <p:nvSpPr>
          <p:cNvPr id="100053" name="CustBody"/>
          <p:cNvSpPr txBox="1"/>
          <p:nvPr/>
        </p:nvSpPr>
        <p:spPr>
          <a:xfrm xmlns:a="http://schemas.openxmlformats.org/drawingml/2006/main">
            <a:off x="360000" y="1368000"/>
            <a:ext cx="5220000" cy="41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Total Unique Customers: 793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Total Unique Orders: 5,009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Sales by Segment: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Consumer:    $1,161,401.34  (50.6%)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Corporate:   $706,146.37  (30.7%)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Home Office: $429,653.15  (18.7%)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Profit by Category: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Technology:      $145,454.95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Office Supplies: $122,490.80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Furniture:           $18,451.27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The Consumer segment is the largest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sales segment. Technology is the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highest profit category.</a:t>
            </a:r>
          </a:p>
        </p:txBody>
      </p:sp>
      <p:sp>
        <p:nvSpPr>
          <p:cNvPr id="100054" name="RegionTitle"/>
          <p:cNvSpPr txBox="1"/>
          <p:nvPr/>
        </p:nvSpPr>
        <p:spPr>
          <a:xfrm xmlns:a="http://schemas.openxmlformats.org/drawingml/2006/main">
            <a:off x="5940000" y="1008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Regional Analysis</a:t>
            </a:r>
          </a:p>
        </p:txBody>
      </p:sp>
      <p:sp>
        <p:nvSpPr>
          <p:cNvPr id="100055" name="RegionBody"/>
          <p:cNvSpPr txBox="1"/>
          <p:nvPr/>
        </p:nvSpPr>
        <p:spPr>
          <a:xfrm xmlns:a="http://schemas.openxmlformats.org/drawingml/2006/main">
            <a:off x="5940000" y="1368000"/>
            <a:ext cx="5220000" cy="41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Profit by Region: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West:      Highest performing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East:      Strong performance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Central:  Moderate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South:    Lowest sales region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Sub-Categories with Negative Profit: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Tables:     -$17,725.48  (Largest loss)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Bookcases: -$3,472.56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Supplies:   -$1,189.10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Top Profitable Sub-Categories: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Copiers:     $55,617.82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Phones:      $44,515.73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  Accessories: $41,936.64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Discount-Profit Correlation: -0.2195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(Higher discounts associated with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lower profit)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6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Key Business Insights</a:t>
            </a:r>
          </a:p>
        </p:txBody>
      </p:sp>
      <p:sp>
        <p:nvSpPr>
          <p:cNvPr id="100057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58" name="Insight1"/>
          <p:cNvSpPr txBox="1"/>
          <p:nvPr/>
        </p:nvSpPr>
        <p:spPr>
          <a:xfrm xmlns:a="http://schemas.openxmlformats.org/drawingml/2006/main">
            <a:off x="360000" y="1044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Sales Growth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Sales grew from $484K in 2014 to $733K in 2017 — a 51.4% increase over 4 years, indicating a positive overall trend.</a:t>
            </a:r>
          </a:p>
        </p:txBody>
      </p:sp>
      <p:sp>
        <p:nvSpPr>
          <p:cNvPr id="100059" name="Insight2"/>
          <p:cNvSpPr txBox="1"/>
          <p:nvPr/>
        </p:nvSpPr>
        <p:spPr>
          <a:xfrm xmlns:a="http://schemas.openxmlformats.org/drawingml/2006/main">
            <a:off x="5940000" y="1044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Furniture Profitability Risk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Furniture generates 32.3% of total sales but only 6.4% of total profit ($18,451). Pricing and cost structure warrant review.</a:t>
            </a:r>
          </a:p>
        </p:txBody>
      </p:sp>
      <p:sp>
        <p:nvSpPr>
          <p:cNvPr id="100060" name="Insight3"/>
          <p:cNvSpPr txBox="1"/>
          <p:nvPr/>
        </p:nvSpPr>
        <p:spPr>
          <a:xfrm xmlns:a="http://schemas.openxmlformats.org/drawingml/2006/main">
            <a:off x="360000" y="226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Tables Sub-Category Loss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Tables sub-category shows -$17,725 total profit. Deep discounting (avg 30%+) is strongly associated with this loss.</a:t>
            </a:r>
          </a:p>
        </p:txBody>
      </p:sp>
      <p:sp>
        <p:nvSpPr>
          <p:cNvPr id="100061" name="Insight4"/>
          <p:cNvSpPr txBox="1"/>
          <p:nvPr/>
        </p:nvSpPr>
        <p:spPr>
          <a:xfrm xmlns:a="http://schemas.openxmlformats.org/drawingml/2006/main">
            <a:off x="5940000" y="226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Technology is Most Profitable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Copiers sub-category alone generated $55,617 profit. Technology drives 50.8% of total profit on 36.4% of sales.</a:t>
            </a:r>
          </a:p>
        </p:txBody>
      </p:sp>
      <p:sp>
        <p:nvSpPr>
          <p:cNvPr id="100062" name="Insight5"/>
          <p:cNvSpPr txBox="1"/>
          <p:nvPr/>
        </p:nvSpPr>
        <p:spPr>
          <a:xfrm xmlns:a="http://schemas.openxmlformats.org/drawingml/2006/main">
            <a:off x="360000" y="349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Discount-Profit Association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Discount-Profit correlation = -0.22. Higher discounts are associated with lower profit. This does not prove causation.</a:t>
            </a:r>
          </a:p>
        </p:txBody>
      </p:sp>
      <p:sp>
        <p:nvSpPr>
          <p:cNvPr id="100063" name="Insight6"/>
          <p:cNvSpPr txBox="1"/>
          <p:nvPr/>
        </p:nvSpPr>
        <p:spPr>
          <a:xfrm xmlns:a="http://schemas.openxmlformats.org/drawingml/2006/main">
            <a:off x="5940000" y="349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301 Loss-Making Products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301 out of 1,850 products show negative total profit. These products need pricing or discount policy review.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64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100065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66" name="ConclusionTitle"/>
          <p:cNvSpPr txBox="1"/>
          <p:nvPr/>
        </p:nvSpPr>
        <p:spPr>
          <a:xfrm xmlns:a="http://schemas.openxmlformats.org/drawingml/2006/main">
            <a:off x="360000" y="1044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A8C4E0"/>
                </a:solidFill>
              </a:rPr>
              <a:t>Project Summary</a:t>
            </a:r>
          </a:p>
        </p:txBody>
      </p:sp>
      <p:sp>
        <p:nvSpPr>
          <p:cNvPr id="100067" name="ConclusionBody"/>
          <p:cNvSpPr txBox="1"/>
          <p:nvPr/>
        </p:nvSpPr>
        <p:spPr>
          <a:xfrm xmlns:a="http://schemas.openxmlformats.org/drawingml/2006/main">
            <a:off x="360000" y="1404000"/>
            <a:ext cx="5220000" cy="40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This project demonstrates how Python-based data analytics can transform raw retail transaction data into business intelligence.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The dashboard analyzes 9,994 transactions across 4 years and provides: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8 KPI cards updated with live filters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10 dashboard tabs covering all analytical dimensions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20+ interactive Plotly charts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Dynamic business insights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Downloadable filtered dataset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The project covers the full data analytics pipeline: loading, cleaning, feature engineering, visualization, and insight generation — using only Python.</a:t>
            </a:r>
          </a:p>
        </p:txBody>
      </p:sp>
      <p:sp>
        <p:nvSpPr>
          <p:cNvPr id="100068" name="FutureTitle"/>
          <p:cNvSpPr txBox="1"/>
          <p:nvPr/>
        </p:nvSpPr>
        <p:spPr>
          <a:xfrm xmlns:a="http://schemas.openxmlformats.org/drawingml/2006/main">
            <a:off x="5940000" y="1044000"/>
            <a:ext cx="52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A8C4E0"/>
                </a:solidFill>
              </a:rPr>
              <a:t>Future Scope</a:t>
            </a:r>
          </a:p>
        </p:txBody>
      </p:sp>
      <p:sp>
        <p:nvSpPr>
          <p:cNvPr id="100069" name="FutureBody"/>
          <p:cNvSpPr txBox="1"/>
          <p:nvPr/>
        </p:nvSpPr>
        <p:spPr>
          <a:xfrm xmlns:a="http://schemas.openxmlformats.org/drawingml/2006/main">
            <a:off x="5940000" y="1404000"/>
            <a:ext cx="5220000" cy="40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1.  Sales Forecasting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Use Prophet or ARIMA for time-series prediction.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2.  Customer Segmentation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Apply K-Means clustering to identify customer groups.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3.  Predictive Analytics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Build models to predict order profitability.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4.  Automated Reporting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Generate scheduled PDF/Excel reports.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5.  Cloud Deployment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Deploy to Streamlit Cloud or AWS.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6.  Real-time Data</a:t>
            </a:r>
          </a:p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     Connect to live sales databases for real-time dashboards.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0" name="SlideTitle"/>
          <p:cNvSpPr txBox="1"/>
          <p:nvPr/>
        </p:nvSpPr>
        <p:spPr>
          <a:xfrm xmlns:a="http://schemas.openxmlformats.org/drawingml/2006/main">
            <a:off x="360000" y="144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Dashboard Screenshots — Overview &amp; Sales Analysis</a:t>
            </a:r>
          </a:p>
        </p:txBody>
      </p:sp>
      <p:sp>
        <p:nvSpPr>
          <p:cNvPr id="100071" name="Line"/>
          <p:cNvSpPr txBox="1"/>
          <p:nvPr/>
        </p:nvSpPr>
        <p:spPr>
          <a:xfrm xmlns:a="http://schemas.openxmlformats.org/drawingml/2006/main">
            <a:off x="360000" y="720000"/>
            <a:ext cx="11160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pic>
        <p:nvPicPr>
          <p:cNvPr id="10007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57020068247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80000" y="828000"/>
            <a:ext cx="5580000" cy="3132000"/>
          </a:xfrm>
          <a:prstGeom xmlns:a="http://schemas.openxmlformats.org/drawingml/2006/main" prst="rect">
            <a:avLst/>
          </a:prstGeom>
        </p:spPr>
      </p:pic>
      <p:sp>
        <p:nvSpPr>
          <p:cNvPr id="100073" name="Cap1"/>
          <p:cNvSpPr txBox="1"/>
          <p:nvPr/>
        </p:nvSpPr>
        <p:spPr>
          <a:xfrm xmlns:a="http://schemas.openxmlformats.org/drawingml/2006/main">
            <a:off x="180000" y="3996000"/>
            <a:ext cx="55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57606A"/>
                </a:solidFill>
              </a:rPr>
              <a:t>Fig 1: Dashboard Overview — KPI Cards, Sidebar Filters &amp; Navigation Tabs</a:t>
            </a:r>
          </a:p>
        </p:txBody>
      </p:sp>
      <p:pic>
        <p:nvPicPr>
          <p:cNvPr id="10007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6606dba3b46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20000" y="828000"/>
            <a:ext cx="5580000" cy="3132000"/>
          </a:xfrm>
          <a:prstGeom xmlns:a="http://schemas.openxmlformats.org/drawingml/2006/main" prst="rect">
            <a:avLst/>
          </a:prstGeom>
        </p:spPr>
      </p:pic>
      <p:sp>
        <p:nvSpPr>
          <p:cNvPr id="100075" name="Cap2"/>
          <p:cNvSpPr txBox="1"/>
          <p:nvPr/>
        </p:nvSpPr>
        <p:spPr>
          <a:xfrm xmlns:a="http://schemas.openxmlformats.org/drawingml/2006/main">
            <a:off x="6120000" y="3996000"/>
            <a:ext cx="55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57606A"/>
                </a:solidFill>
              </a:rPr>
              <a:t>Fig 2: Sales Analysis — Sales by Year, Quarter, Category &amp; Region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6" name="SlideTitle"/>
          <p:cNvSpPr txBox="1"/>
          <p:nvPr/>
        </p:nvSpPr>
        <p:spPr>
          <a:xfrm xmlns:a="http://schemas.openxmlformats.org/drawingml/2006/main">
            <a:off x="360000" y="144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Dashboard Screenshots — Product &amp; Regional Analysis</a:t>
            </a:r>
          </a:p>
        </p:txBody>
      </p:sp>
      <p:sp>
        <p:nvSpPr>
          <p:cNvPr id="100077" name="Line"/>
          <p:cNvSpPr txBox="1"/>
          <p:nvPr/>
        </p:nvSpPr>
        <p:spPr>
          <a:xfrm xmlns:a="http://schemas.openxmlformats.org/drawingml/2006/main">
            <a:off x="360000" y="720000"/>
            <a:ext cx="11160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pic>
        <p:nvPicPr>
          <p:cNvPr id="10007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e6cda179e41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80000" y="828000"/>
            <a:ext cx="5580000" cy="3132000"/>
          </a:xfrm>
          <a:prstGeom xmlns:a="http://schemas.openxmlformats.org/drawingml/2006/main" prst="rect">
            <a:avLst/>
          </a:prstGeom>
        </p:spPr>
      </p:pic>
      <p:sp>
        <p:nvSpPr>
          <p:cNvPr id="100079" name="Cap3"/>
          <p:cNvSpPr txBox="1"/>
          <p:nvPr/>
        </p:nvSpPr>
        <p:spPr>
          <a:xfrm xmlns:a="http://schemas.openxmlformats.org/drawingml/2006/main">
            <a:off x="180000" y="3996000"/>
            <a:ext cx="55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57606A"/>
                </a:solidFill>
              </a:rPr>
              <a:t>Fig 3: Product Analysis — Top 10 Products by Sales &amp; Profit</a:t>
            </a:r>
          </a:p>
        </p:txBody>
      </p:sp>
      <p:pic>
        <p:nvPicPr>
          <p:cNvPr id="100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f24ffd0eb405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20000" y="828000"/>
            <a:ext cx="5580000" cy="3132000"/>
          </a:xfrm>
          <a:prstGeom xmlns:a="http://schemas.openxmlformats.org/drawingml/2006/main" prst="rect">
            <a:avLst/>
          </a:prstGeom>
        </p:spPr>
      </p:pic>
      <p:sp>
        <p:nvSpPr>
          <p:cNvPr id="100081" name="Cap4"/>
          <p:cNvSpPr txBox="1"/>
          <p:nvPr/>
        </p:nvSpPr>
        <p:spPr>
          <a:xfrm xmlns:a="http://schemas.openxmlformats.org/drawingml/2006/main">
            <a:off x="6120000" y="3996000"/>
            <a:ext cx="55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57606A"/>
                </a:solidFill>
              </a:rPr>
              <a:t>Fig 4: Regional Analysis — Sales &amp; Profit by Region (West leads both)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2" name="SlideTitle"/>
          <p:cNvSpPr txBox="1"/>
          <p:nvPr/>
        </p:nvSpPr>
        <p:spPr>
          <a:xfrm xmlns:a="http://schemas.openxmlformats.org/drawingml/2006/main">
            <a:off x="360000" y="144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Dashboard Screenshots — Business Insights</a:t>
            </a:r>
          </a:p>
        </p:txBody>
      </p:sp>
      <p:sp>
        <p:nvSpPr>
          <p:cNvPr id="100083" name="Line"/>
          <p:cNvSpPr txBox="1"/>
          <p:nvPr/>
        </p:nvSpPr>
        <p:spPr>
          <a:xfrm xmlns:a="http://schemas.openxmlformats.org/drawingml/2006/main">
            <a:off x="360000" y="720000"/>
            <a:ext cx="11160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pic>
        <p:nvPicPr>
          <p:cNvPr id="10008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3ad1d19c47f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80000" y="828000"/>
            <a:ext cx="9720000" cy="3600000"/>
          </a:xfrm>
          <a:prstGeom xmlns:a="http://schemas.openxmlformats.org/drawingml/2006/main" prst="rect">
            <a:avLst/>
          </a:prstGeom>
        </p:spPr>
      </p:pic>
      <p:sp>
        <p:nvSpPr>
          <p:cNvPr id="100085" name="Cap5"/>
          <p:cNvSpPr txBox="1"/>
          <p:nvPr/>
        </p:nvSpPr>
        <p:spPr>
          <a:xfrm xmlns:a="http://schemas.openxmlformats.org/drawingml/2006/main">
            <a:off x="1080000" y="4500000"/>
            <a:ext cx="97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57606A"/>
                </a:solidFill>
              </a:rPr>
              <a:t>Fig 5: Business Insights — Dynamic findings with Finding, Business Meaning &amp; Possible Action for each insight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86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Project Links &amp; Deployment</a:t>
            </a:r>
          </a:p>
        </p:txBody>
      </p:sp>
      <p:sp>
        <p:nvSpPr>
          <p:cNvPr id="100087" name="Line"/>
          <p:cNvSpPr txBox="1"/>
          <p:nvPr/>
        </p:nvSpPr>
        <p:spPr>
          <a:xfrm xmlns:a="http://schemas.openxmlformats.org/drawingml/2006/main">
            <a:off x="360000" y="864000"/>
            <a:ext cx="1116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D4"/>
              </a:solidFill>
            </a:endParaRPr>
          </a:p>
        </p:txBody>
      </p:sp>
      <p:sp>
        <p:nvSpPr>
          <p:cNvPr id="100088" name="GHTitle"/>
          <p:cNvSpPr txBox="1"/>
          <p:nvPr/>
        </p:nvSpPr>
        <p:spPr>
          <a:xfrm xmlns:a="http://schemas.openxmlformats.org/drawingml/2006/main">
            <a:off x="360000" y="1152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8C4E0"/>
                </a:solidFill>
              </a:rPr>
              <a:t>GitHub Repository</a:t>
            </a:r>
          </a:p>
        </p:txBody>
      </p:sp>
      <p:sp>
        <p:nvSpPr>
          <p:cNvPr id="100089" name="GHLink"/>
          <p:cNvSpPr txBox="1"/>
          <p:nvPr/>
        </p:nvSpPr>
        <p:spPr>
          <a:xfrm xmlns:a="http://schemas.openxmlformats.org/drawingml/2006/main">
            <a:off x="360000" y="1476000"/>
            <a:ext cx="111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7EC8F0"/>
                </a:solidFill>
              </a:rPr>
              <a:t>https://github.com/codedby-shreya/superstore-sales-profit-analytics</a:t>
            </a:r>
          </a:p>
        </p:txBody>
      </p:sp>
      <p:sp>
        <p:nvSpPr>
          <p:cNvPr id="100090" name="GHDesc"/>
          <p:cNvSpPr txBox="1"/>
          <p:nvPr/>
        </p:nvSpPr>
        <p:spPr>
          <a:xfrm xmlns:a="http://schemas.openxmlformats.org/drawingml/2006/main">
            <a:off x="360000" y="1908000"/>
            <a:ext cx="11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FF"/>
                </a:solidFill>
              </a:rPr>
              <a:t>Repository contains: app.py, requirements.txt, README.md, dataset, screenshots, and this presentation.</a:t>
            </a:r>
          </a:p>
        </p:txBody>
      </p:sp>
      <p:sp>
        <p:nvSpPr>
          <p:cNvPr id="100091" name="STTitle"/>
          <p:cNvSpPr txBox="1"/>
          <p:nvPr/>
        </p:nvSpPr>
        <p:spPr>
          <a:xfrm xmlns:a="http://schemas.openxmlformats.org/drawingml/2006/main">
            <a:off x="360000" y="2520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8C4E0"/>
                </a:solidFill>
              </a:rPr>
              <a:t>Streamlit Dashboard (Live Deployment)</a:t>
            </a:r>
          </a:p>
        </p:txBody>
      </p:sp>
      <p:sp>
        <p:nvSpPr>
          <p:cNvPr id="100092" name="STLink"/>
          <p:cNvSpPr txBox="1"/>
          <p:nvPr/>
        </p:nvSpPr>
        <p:spPr>
          <a:xfrm xmlns:a="http://schemas.openxmlformats.org/drawingml/2006/main">
            <a:off x="360000" y="2880000"/>
            <a:ext cx="111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EEFF"/>
                </a:solidFill>
              </a:rPr>
              <a:t>Deploy via: https://share.streamlit.io</a:t>
            </a:r>
          </a:p>
          <a:p xmlns:a="http://schemas.openxmlformats.org/drawingml/2006/main">
            <a:r>
              <a:rPr lang="en-US" sz="1600">
                <a:solidFill>
                  <a:srgbClr val="DDEEFF"/>
                </a:solidFill>
              </a:rPr>
              <a:t>Repository: codedby-shreya/superstore-sales-profit-analytics</a:t>
            </a:r>
          </a:p>
          <a:p xmlns:a="http://schemas.openxmlformats.org/drawingml/2006/main">
            <a:r>
              <a:rPr lang="en-US" sz="1600">
                <a:solidFill>
                  <a:srgbClr val="DDEEFF"/>
                </a:solidFill>
              </a:rPr>
              <a:t>Main file: app.py</a:t>
            </a:r>
          </a:p>
        </p:txBody>
      </p:sp>
      <p:sp>
        <p:nvSpPr>
          <p:cNvPr id="100093" name="StudentInfo"/>
          <p:cNvSpPr txBox="1"/>
          <p:nvPr/>
        </p:nvSpPr>
        <p:spPr>
          <a:xfrm xmlns:a="http://schemas.openxmlformats.org/drawingml/2006/main">
            <a:off x="360000" y="432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8C4E0"/>
                </a:solidFill>
              </a:rPr>
              <a:t>Shreya Jha  |  Indian Institute of Technology Patna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8C4E0"/>
                </a:solidFill>
              </a:rPr>
              <a:t>AICTE–BharatCares–IBM SkillsBuild Internship Program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2026-09-20T16:34:57Z</dcterms:created>
  <cp:lastModifiedBy>OfficeCLI</cp:lastModifiedBy>
  <dcterms:modified xsi:type="dcterms:W3CDTF">2026-09-20T16:34:57Z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2026-09-20T17:21:28Z</vt:lpwstr>
  </op:property>
</op:Properties>
</file>