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slide. Fill in your personal details: Student Name, Course, and College.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project and the dataset. Mention that this is a college data analytics project using Python and Streamlit on the popular Superstore dataset from Kaggle.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business problem clearly. The superstore has thousands of transactions but without analysis, important patterns remain hidden. The dashboard solves this.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12 core objectives. Emphasize that the dashboard is fully dynamic and all numbers update based on the sidebar filters applied.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statistics on this slide come directly from the CSV dataset. Total rows 9994, columns 21, date range 2014-2017.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data cleaning process and the new features created. Mention that Profit Margin is calculated safely with zero-division protection.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each technology used. Emphasize that this is a pure Python EDA project — no machine learning, no SQL databases, no external APIs.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the three-layer architecture: Sidebar (filters), Main area (KPIs + Tabs), Chart layer (Plotly). Mention that @st.cache_data is used for performance.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figures are sourced directly from the dataset. Technology is the top category by sales. The West region leads in sales. 301 products have negative profit.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Consumer segment leads in sales at 50.6%. Technology has the highest profit by category. Tables sub-category has the largest loss at -$17,725.48.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insights are computed directly from the dataset. No values are fabricated. Remind the audience that correlation is not causation.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Summarize what was built. Mention that none of the future scope features are implemented — they are suggested directions for extension.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Left: Dashboard Overview with real KPI cards showing $2.3M sales, $286K profit, 5009 orders, 12.47% profit margin. Right: Sales Analysis tab showing year-over-year and quarterly trends.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Left: Product Analysis showing Canon imageCLASS as top product ($61,599 sales). Right: Regional comparison showing West region leading in both sales and profit.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Insights tab showing dynamically generated insights from the actual dataset. Insights include top sales category (Technology $836K), top sales region (West $725K), and others.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000" y="68580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slide with project links. Replace the Streamlit link with the actual URL once deployed.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Tx">
  <p:cSld name="OBJECT_WITH_CAPTIO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/>
        </p:nvSpPr>
        <p:spPr>
          <a:xfrm>
            <a:off x="540000" y="900000"/>
            <a:ext cx="1080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</a:rPr>
              <a:t>Superstore Sales &amp; Profit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</a:rPr>
              <a:t>Analytics Dashboard</a:t>
            </a:r>
            <a:endParaRPr/>
          </a:p>
        </p:txBody>
      </p:sp>
      <p:sp>
        <p:nvSpPr>
          <p:cNvPr id="28" name="Google Shape;28;p7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8C4E0"/>
                </a:solidFill>
              </a:rPr>
              <a:t>An Interactive Data Analytics Project using Python &amp; Streamlit</a:t>
            </a:r>
            <a:endParaRPr/>
          </a:p>
        </p:txBody>
      </p:sp>
      <p:sp>
        <p:nvSpPr>
          <p:cNvPr id="29" name="Google Shape;29;p7"/>
          <p:cNvSpPr txBox="1"/>
          <p:nvPr/>
        </p:nvSpPr>
        <p:spPr>
          <a:xfrm>
            <a:off x="540000" y="396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8D8E8"/>
                </a:solidFill>
              </a:rPr>
              <a:t>Presented by: Shreya Jha</a:t>
            </a:r>
            <a:endParaRPr sz="1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8D8E8"/>
                </a:solidFill>
              </a:rPr>
              <a:t>College: Indian Institute of Technology Patna</a:t>
            </a:r>
            <a:endParaRPr sz="1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8D8E8"/>
                </a:solidFill>
              </a:rPr>
              <a:t>Program: AICTE–BharatCares–IBM SkillsBuild Internship Program</a:t>
            </a:r>
            <a:endParaRPr sz="1900"/>
          </a:p>
        </p:txBody>
      </p:sp>
      <p:sp>
        <p:nvSpPr>
          <p:cNvPr id="30" name="Google Shape;30;p7"/>
          <p:cNvSpPr txBox="1"/>
          <p:nvPr/>
        </p:nvSpPr>
        <p:spPr>
          <a:xfrm>
            <a:off x="540000" y="53627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90AABE"/>
                </a:solidFill>
              </a:rPr>
              <a:t>Dataset: Sample Superstore | Source: Kaggle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</a:rPr>
              <a:t>Introduction</a:t>
            </a:r>
            <a:endParaRPr/>
          </a:p>
        </p:txBody>
      </p:sp>
      <p:sp>
        <p:nvSpPr>
          <p:cNvPr id="36" name="Google Shape;36;p8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37" name="Google Shape;37;p8"/>
          <p:cNvSpPr txBox="1"/>
          <p:nvPr/>
        </p:nvSpPr>
        <p:spPr>
          <a:xfrm>
            <a:off x="360000" y="1008000"/>
            <a:ext cx="522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What is this project?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This project is a comprehensive data analytics dashboard built using Python and Streamlit. It analyzes the Superstore retail transaction dataset from Kaggle to uncover business insights about sales, profitability, customers, products, and regional performance.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The dashboard provides an interactive interface for exploring and filtering data in real time.</a:t>
            </a:r>
            <a:endParaRPr sz="2200"/>
          </a:p>
        </p:txBody>
      </p:sp>
      <p:sp>
        <p:nvSpPr>
          <p:cNvPr id="38" name="Google Shape;38;p8"/>
          <p:cNvSpPr txBox="1"/>
          <p:nvPr/>
        </p:nvSpPr>
        <p:spPr>
          <a:xfrm>
            <a:off x="5940000" y="1008000"/>
            <a:ext cx="522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About the Superstore Dataset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The Superstore dataset represents 4 years of US retail sales transactions (2014-2017) from a fictional superstore. It includes: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- 9,994 order line items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- 21 data columns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- 4 regions across the United States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- 3 product categories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- 17 sub-categories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- 793 unique customers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328"/>
                </a:solidFill>
              </a:rPr>
              <a:t>Data analytics helps this business understand what drives profit and where losses occur.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Problem Statement</a:t>
            </a:r>
            <a:endParaRPr/>
          </a:p>
        </p:txBody>
      </p:sp>
      <p:sp>
        <p:nvSpPr>
          <p:cNvPr id="44" name="Google Shape;44;p9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45" name="Google Shape;45;p9"/>
          <p:cNvSpPr txBox="1"/>
          <p:nvPr/>
        </p:nvSpPr>
        <p:spPr>
          <a:xfrm>
            <a:off x="360000" y="1008000"/>
            <a:ext cx="1116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2328"/>
                </a:solidFill>
              </a:rPr>
              <a:t>The Business Challenge</a:t>
            </a:r>
            <a:endParaRPr b="1"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Large retail businesses process thousands of transactions every month. Without structured analysis, it becomes very difficult to answer critical business questions: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Which products are generating profit — and which are creating losses?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Which regions, states, and cities are underperforming?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Which customer segments drive the most revenue?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How do discounts affect overall profitability?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What seasonal patterns exist in sales and profit trends?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Which sub-categories need pricing or discount policy changes?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This project addresses this challenge by building an interactive analytics dashboard that transforms raw transaction data into clear, actionable business insights using only Python-based tools.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Project Objectives</a:t>
            </a: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52" name="Google Shape;52;p10"/>
          <p:cNvSpPr txBox="1"/>
          <p:nvPr/>
        </p:nvSpPr>
        <p:spPr>
          <a:xfrm>
            <a:off x="360000" y="1008000"/>
            <a:ext cx="54000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Core Objectives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1.  Automatically load and validate the Superstore CSV dataset.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2.  Perform complete Exploratory Data Analysis (EDA).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3.  Build an interactive Streamlit dashboard with sidebar filters.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4.  Display real-time KPI cards: Sales, Profit, Orders, Customers, Margin.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5.  Analyze sales trends across time, categories, regions, and segments.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6.  Identify top-performing and loss-making products and sub-categories.</a:t>
            </a:r>
            <a:endParaRPr sz="1700"/>
          </a:p>
        </p:txBody>
      </p:sp>
      <p:sp>
        <p:nvSpPr>
          <p:cNvPr id="53" name="Google Shape;53;p10"/>
          <p:cNvSpPr txBox="1"/>
          <p:nvPr/>
        </p:nvSpPr>
        <p:spPr>
          <a:xfrm>
            <a:off x="6120000" y="1008000"/>
            <a:ext cx="54000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2328"/>
                </a:solidFill>
              </a:rPr>
              <a:t>A</a:t>
            </a:r>
            <a:r>
              <a:rPr lang="en-US" sz="1900">
                <a:solidFill>
                  <a:srgbClr val="1F2328"/>
                </a:solidFill>
              </a:rPr>
              <a:t>nalytical Objectives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7.  Analyze customer segments and identify top customers by revenue and profit.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8.  Compare regional and state-level sales and profitability.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9.  Examine the relationship between discounts and profit.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10.  Generate dynamic business insights directly from the data.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11.  Provide a downloadable CSV export of the filtered dataset.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12.  Present findings through a professional project presentation.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Dataset Overview</a:t>
            </a:r>
            <a:endParaRPr/>
          </a:p>
        </p:txBody>
      </p:sp>
      <p:sp>
        <p:nvSpPr>
          <p:cNvPr id="59" name="Google Shape;59;p11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60" name="Google Shape;60;p11"/>
          <p:cNvSpPr txBox="1"/>
          <p:nvPr/>
        </p:nvSpPr>
        <p:spPr>
          <a:xfrm>
            <a:off x="360000" y="1008000"/>
            <a:ext cx="1116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E3A5F"/>
                </a:solidFill>
              </a:rPr>
              <a:t>Dataset: Sample - Superstore.csv   |   Source: Kaggle</a:t>
            </a:r>
            <a:endParaRPr sz="2400"/>
          </a:p>
        </p:txBody>
      </p:sp>
      <p:sp>
        <p:nvSpPr>
          <p:cNvPr id="61" name="Google Shape;61;p11"/>
          <p:cNvSpPr txBox="1"/>
          <p:nvPr/>
        </p:nvSpPr>
        <p:spPr>
          <a:xfrm>
            <a:off x="360000" y="1440000"/>
            <a:ext cx="11160000" cy="22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Total Rows: 9,994                                              Total Columns: 21</a:t>
            </a:r>
            <a:endParaRPr sz="2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Date Range: Jan 3, 2014 - Dec 30, 2017          Years Covered: 2014, 2015, 2016, 2017</a:t>
            </a:r>
            <a:endParaRPr sz="2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Unique Customers: 793                                     Unique Products: 1,850</a:t>
            </a:r>
            <a:endParaRPr sz="2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Unique Orders: 5,009                                        Total Quantity Sold: 37,873</a:t>
            </a:r>
            <a:endParaRPr sz="2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Total Sales: $2,297,200.86                                Total Profit: $286,397.02</a:t>
            </a:r>
            <a:endParaRPr sz="2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Overall Profit Margin: 12.47%                            Avg Order Value: $458.61</a:t>
            </a:r>
            <a:endParaRPr sz="2200"/>
          </a:p>
        </p:txBody>
      </p:sp>
      <p:sp>
        <p:nvSpPr>
          <p:cNvPr id="62" name="Google Shape;62;p11"/>
          <p:cNvSpPr txBox="1"/>
          <p:nvPr/>
        </p:nvSpPr>
        <p:spPr>
          <a:xfrm>
            <a:off x="142775" y="3912750"/>
            <a:ext cx="111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E3A5F"/>
                </a:solidFill>
              </a:rPr>
              <a:t>Key Columns</a:t>
            </a:r>
            <a:endParaRPr sz="2300"/>
          </a:p>
        </p:txBody>
      </p:sp>
      <p:sp>
        <p:nvSpPr>
          <p:cNvPr id="63" name="Google Shape;63;p11"/>
          <p:cNvSpPr txBox="1"/>
          <p:nvPr/>
        </p:nvSpPr>
        <p:spPr>
          <a:xfrm>
            <a:off x="142775" y="4422950"/>
            <a:ext cx="540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Order ID, Order Date, Ship Date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Ship Mode, Customer ID, Customer Name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Segment, Country, City, State, Region</a:t>
            </a:r>
            <a:endParaRPr sz="2200"/>
          </a:p>
        </p:txBody>
      </p:sp>
      <p:sp>
        <p:nvSpPr>
          <p:cNvPr id="64" name="Google Shape;64;p11"/>
          <p:cNvSpPr txBox="1"/>
          <p:nvPr/>
        </p:nvSpPr>
        <p:spPr>
          <a:xfrm>
            <a:off x="6120000" y="4422950"/>
            <a:ext cx="540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Product ID, Category, Sub-Category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Product Name, Sales, Quantity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2328"/>
                </a:solidFill>
              </a:rPr>
              <a:t>Discount, Profit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Data Cleaning &amp; Feature Engineering</a:t>
            </a:r>
            <a:endParaRPr/>
          </a:p>
        </p:txBody>
      </p:sp>
      <p:sp>
        <p:nvSpPr>
          <p:cNvPr id="70" name="Google Shape;70;p12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360000" y="1008000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3A5F"/>
                </a:solidFill>
              </a:rPr>
              <a:t>Data Cleaning Step</a:t>
            </a:r>
            <a:r>
              <a:rPr b="1" lang="en-US" sz="1800">
                <a:solidFill>
                  <a:srgbClr val="1E3A5F"/>
                </a:solidFill>
              </a:rPr>
              <a:t>s</a:t>
            </a:r>
            <a:endParaRPr/>
          </a:p>
        </p:txBody>
      </p:sp>
      <p:sp>
        <p:nvSpPr>
          <p:cNvPr id="72" name="Google Shape;72;p12"/>
          <p:cNvSpPr txBox="1"/>
          <p:nvPr/>
        </p:nvSpPr>
        <p:spPr>
          <a:xfrm>
            <a:off x="360000" y="1368000"/>
            <a:ext cx="522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1.  Auto-detect and load CSV using Pandas.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2.  Check for missing values across all 21 columns (no missing values found).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3.  Check and remove duplicate rows if any exist.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4.  Convert Order Date and Ship Date to proper Pandas datetime format.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5.  Validate numeric columns: Sales, Profit, Quantity, Discount.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6.  Coerce invalid numeric values to NaN safely.</a:t>
            </a:r>
            <a:endParaRPr sz="1900"/>
          </a:p>
        </p:txBody>
      </p:sp>
      <p:sp>
        <p:nvSpPr>
          <p:cNvPr id="73" name="Google Shape;73;p12"/>
          <p:cNvSpPr txBox="1"/>
          <p:nvPr/>
        </p:nvSpPr>
        <p:spPr>
          <a:xfrm>
            <a:off x="5940000" y="1008000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E3A5F"/>
                </a:solidFill>
              </a:rPr>
              <a:t>Feature Engineerin</a:t>
            </a:r>
            <a:r>
              <a:rPr b="1" lang="en-US" sz="1800">
                <a:solidFill>
                  <a:srgbClr val="1E3A5F"/>
                </a:solidFill>
              </a:rPr>
              <a:t>g</a:t>
            </a:r>
            <a:endParaRPr/>
          </a:p>
        </p:txBody>
      </p:sp>
      <p:sp>
        <p:nvSpPr>
          <p:cNvPr id="74" name="Google Shape;74;p12"/>
          <p:cNvSpPr txBox="1"/>
          <p:nvPr/>
        </p:nvSpPr>
        <p:spPr>
          <a:xfrm>
            <a:off x="5940000" y="1368000"/>
            <a:ext cx="522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2328"/>
                </a:solidFill>
              </a:rPr>
              <a:t>New columns created from Order Date:</a:t>
            </a:r>
            <a:endParaRPr b="1"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</a:t>
            </a:r>
            <a:r>
              <a:rPr lang="en-US" sz="2300">
                <a:solidFill>
                  <a:srgbClr val="1F2328"/>
                </a:solidFill>
              </a:rPr>
              <a:t>Year  (e.g. 2014, 2015, 2016, 2017)</a:t>
            </a:r>
            <a:r>
              <a:rPr lang="en-US" sz="2700">
                <a:solidFill>
                  <a:srgbClr val="1F2328"/>
                </a:solidFill>
              </a:rPr>
              <a:t>    </a:t>
            </a:r>
            <a:r>
              <a:rPr lang="en-US" sz="2400">
                <a:solidFill>
                  <a:srgbClr val="1F2328"/>
                </a:solidFill>
              </a:rPr>
              <a:t>Month Number  (1-12)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  Month Name  (Jan, Feb, ..., Dec)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  Quarter  (Q1, Q2, Q3, Q4)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  Day of Week  (Monday, Tuesday, ...)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Profit Margin calculation: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  Profit Margin = (Profit / Sales) x 100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2328"/>
                </a:solidFill>
              </a:rPr>
              <a:t> </a:t>
            </a:r>
            <a:r>
              <a:rPr lang="en-US" sz="2000">
                <a:solidFill>
                  <a:srgbClr val="1F2328"/>
                </a:solidFill>
              </a:rPr>
              <a:t> Division by zero is handled safely.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Results expressed as a percentage (%).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</a:rPr>
              <a:t>Technology Stack</a:t>
            </a: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60000" y="1152000"/>
            <a:ext cx="3420000" cy="1080000"/>
          </a:xfrm>
          <a:prstGeom prst="rect">
            <a:avLst/>
          </a:prstGeom>
          <a:solidFill>
            <a:srgbClr val="163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</a:rPr>
              <a:t>Python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</a:rPr>
              <a:t>Core Programming Language</a:t>
            </a: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4140000" y="1152000"/>
            <a:ext cx="3420000" cy="1080000"/>
          </a:xfrm>
          <a:prstGeom prst="rect">
            <a:avLst/>
          </a:prstGeom>
          <a:solidFill>
            <a:srgbClr val="163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Pandas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Data Loading, Cleaning &amp; Analysis</a:t>
            </a:r>
            <a:endParaRPr/>
          </a:p>
        </p:txBody>
      </p:sp>
      <p:sp>
        <p:nvSpPr>
          <p:cNvPr id="83" name="Google Shape;83;p13"/>
          <p:cNvSpPr txBox="1"/>
          <p:nvPr/>
        </p:nvSpPr>
        <p:spPr>
          <a:xfrm>
            <a:off x="7920000" y="1152000"/>
            <a:ext cx="3420000" cy="1080000"/>
          </a:xfrm>
          <a:prstGeom prst="rect">
            <a:avLst/>
          </a:prstGeom>
          <a:solidFill>
            <a:srgbClr val="163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NumPy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Numerical Operations</a:t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360000" y="2592000"/>
            <a:ext cx="3420000" cy="1080000"/>
          </a:xfrm>
          <a:prstGeom prst="rect">
            <a:avLst/>
          </a:prstGeom>
          <a:solidFill>
            <a:srgbClr val="163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Plotly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Interactive Charts &amp; Visualizations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140000" y="2592000"/>
            <a:ext cx="3420000" cy="1080000"/>
          </a:xfrm>
          <a:prstGeom prst="rect">
            <a:avLst/>
          </a:prstGeom>
          <a:solidFill>
            <a:srgbClr val="163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Streamlit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Web Dashboard &amp; UI Framework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920000" y="2592000"/>
            <a:ext cx="3420000" cy="1080000"/>
          </a:xfrm>
          <a:prstGeom prst="rect">
            <a:avLst/>
          </a:prstGeom>
          <a:solidFill>
            <a:srgbClr val="1630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Matplotlib / Seaborn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Statistical Visualization (optional)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0000" y="4140000"/>
            <a:ext cx="1116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8C4E0"/>
                </a:solidFill>
              </a:rPr>
              <a:t>All tools are open-source Python libraries. No SQL, ML, or external databases required.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Dashboard Architecture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60000" y="1008000"/>
            <a:ext cx="2520000" cy="4320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SIDEBAR FILTERS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3A5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Year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Region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State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Category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Sub-Category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Segment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Ship Mode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E3A5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(All charts update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when filters change)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240000" y="1008000"/>
            <a:ext cx="8280000" cy="792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KPI CARDS (Top Row)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Total Sales  |  Total Profit  |  Total Orders  |  Quantity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Avg Order Value  |  Customers  |  Products  |  Profit Margin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240000" y="1908000"/>
            <a:ext cx="8280000" cy="900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NAVIGATION TABS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Overview  |  Sales Analysis  |  Profitability  |  Product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Customer Analysis  |  Regional Analysis  |  Discount &amp;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Business Insights  |  Data Quality  |  Raw Data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240000" y="2916000"/>
            <a:ext cx="8280000" cy="900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CHARTS (Plotly Interactive)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Line Charts | Bar Charts | Pie/Donut Charts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Scatter Plots | Horizontal Bar Charts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All charts support hover tooltips and zoom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240000" y="3924000"/>
            <a:ext cx="8280000" cy="720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DATA LAYER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CSV loaded via Pandas  |  Cleaned &amp; validated  |  Features engineered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3A5F"/>
                </a:solidFill>
              </a:rPr>
              <a:t> @st.cache_data for performance  |  Download filtered CSV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Sales &amp; Product Analysis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60000" y="1008000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E3A5F"/>
                </a:solidFill>
              </a:rPr>
              <a:t>Sales Findings (from dataset</a:t>
            </a:r>
            <a:r>
              <a:rPr b="1" lang="en-US" sz="1800">
                <a:solidFill>
                  <a:srgbClr val="1E3A5F"/>
                </a:solidFill>
              </a:rPr>
              <a:t>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360000" y="1368000"/>
            <a:ext cx="5220000" cy="4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328"/>
                </a:solidFill>
              </a:rPr>
              <a:t>Total Sales:</a:t>
            </a:r>
            <a:r>
              <a:rPr lang="en-US" sz="1800">
                <a:solidFill>
                  <a:srgbClr val="1F2328"/>
                </a:solidFill>
              </a:rPr>
              <a:t> $2,297,200.86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8"/>
                </a:solidFill>
              </a:rPr>
              <a:t>Sales by Category:</a:t>
            </a:r>
            <a:endParaRPr b="1"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Technology:     $836,154.03  (36.4%)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Furniture:         $741,999.80  (32.3%)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Office Supplies: $719,047.03  (31.3%)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8"/>
                </a:solidFill>
              </a:rPr>
              <a:t>Sales by Region:</a:t>
            </a:r>
            <a:endParaRPr b="1"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West:     $725,457.82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East:     $678,781.24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Central: $501,239.89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South:   $391,721.91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8"/>
                </a:solidFill>
              </a:rPr>
              <a:t>Sales by Year:</a:t>
            </a:r>
            <a:endParaRPr b="1"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2014: $484,247.50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2015: $470,532.51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2016: $609,205.60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2017: $733,215.26  (Highest)</a:t>
            </a:r>
            <a:endParaRPr sz="1900"/>
          </a:p>
        </p:txBody>
      </p:sp>
      <p:sp>
        <p:nvSpPr>
          <p:cNvPr id="107" name="Google Shape;107;p15"/>
          <p:cNvSpPr txBox="1"/>
          <p:nvPr/>
        </p:nvSpPr>
        <p:spPr>
          <a:xfrm>
            <a:off x="5940000" y="864000"/>
            <a:ext cx="5220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5F"/>
                </a:solidFill>
              </a:rPr>
              <a:t>Top Product Findings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940000" y="1447200"/>
            <a:ext cx="5220000" cy="4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2328"/>
                </a:solidFill>
              </a:rPr>
              <a:t>Top 3 Products by Sales:</a:t>
            </a:r>
            <a:endParaRPr b="1"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1. Canon imageCLASS 2200 Copier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    $61,599.82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2. Fellowes PB500 Binding Machine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    $27,453.38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3. Cisco TelePresence EX90 Unit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    $22,638.48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8"/>
                </a:solidFill>
              </a:rPr>
              <a:t>Top 3 Products by Profit:</a:t>
            </a:r>
            <a:endParaRPr b="1"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1. Canon imageCLASS 2200 Copier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    $25,199.93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2. Fellowes PB500 Binding Machine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    $7,753.04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3. HP LaserJet 3310 Copier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      $6,983.88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Loss-making Products: 301 products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</a:rPr>
              <a:t>show negative profit in the dataset.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Customer &amp; Regional Analysis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60000" y="1008000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E3A5F"/>
                </a:solidFill>
              </a:rPr>
              <a:t>Customer Analysis</a:t>
            </a:r>
            <a:endParaRPr b="1" sz="1500"/>
          </a:p>
        </p:txBody>
      </p:sp>
      <p:sp>
        <p:nvSpPr>
          <p:cNvPr id="116" name="Google Shape;116;p16"/>
          <p:cNvSpPr txBox="1"/>
          <p:nvPr/>
        </p:nvSpPr>
        <p:spPr>
          <a:xfrm>
            <a:off x="360000" y="1359000"/>
            <a:ext cx="5220000" cy="4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328"/>
                </a:solidFill>
              </a:rPr>
              <a:t>T</a:t>
            </a:r>
            <a:r>
              <a:rPr lang="en-US" sz="1900">
                <a:solidFill>
                  <a:srgbClr val="1F2328"/>
                </a:solidFill>
              </a:rPr>
              <a:t>otal Unique Customers: 793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Total Unique Orders: 5,009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2328"/>
                </a:solidFill>
              </a:rPr>
              <a:t>Sales by Segment:</a:t>
            </a:r>
            <a:endParaRPr b="1"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Consumer:    $1,161,401.34  (50.6%)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Corporate:   $706,146.37  (30.7%)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Home Office: $429,653.15  (18.7%)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2328"/>
                </a:solidFill>
              </a:rPr>
              <a:t>Profit by Category:</a:t>
            </a:r>
            <a:endParaRPr b="1"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Technology:      $145,454.95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Office Supplies: $122,490.80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  Furniture:           $18,451.27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The Consumer segment is the largest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sales segment. Technology is the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328"/>
                </a:solidFill>
              </a:rPr>
              <a:t>highest profit category.</a:t>
            </a:r>
            <a:endParaRPr sz="1800"/>
          </a:p>
        </p:txBody>
      </p:sp>
      <p:sp>
        <p:nvSpPr>
          <p:cNvPr id="117" name="Google Shape;117;p16"/>
          <p:cNvSpPr txBox="1"/>
          <p:nvPr/>
        </p:nvSpPr>
        <p:spPr>
          <a:xfrm>
            <a:off x="5784850" y="968400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3A5F"/>
                </a:solidFill>
              </a:rPr>
              <a:t>Regional Analysi</a:t>
            </a:r>
            <a:r>
              <a:rPr b="1" lang="en-US" sz="1800">
                <a:solidFill>
                  <a:srgbClr val="1E3A5F"/>
                </a:solidFill>
              </a:rPr>
              <a:t>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940000" y="1368000"/>
            <a:ext cx="5220000" cy="4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F2328"/>
                </a:solidFill>
              </a:rPr>
              <a:t>Profit by Region:</a:t>
            </a:r>
            <a:endParaRPr b="1"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West:      Highest performing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East:      Strong performance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Central:  Moderate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South:    Lowest sales region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328"/>
                </a:solidFill>
              </a:rPr>
              <a:t>Sub-Categories with Negative Profit:</a:t>
            </a:r>
            <a:endParaRPr b="1"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Tables:     -$17,725.48  (Largest loss)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Bookcases: -$3,472.56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Supplies:   -$1,189.10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328"/>
                </a:solidFill>
              </a:rPr>
              <a:t>Top Profitable Sub-Categories:</a:t>
            </a:r>
            <a:endParaRPr b="1"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Copiers:     $55,617.82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Phones:      $44,515.73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  Accessories: $41,936.64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32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Discount-Profit Correlation: -0.2195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(Higher discounts associated with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2328"/>
                </a:solidFill>
              </a:rPr>
              <a:t>lower profit)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5F"/>
                </a:solidFill>
              </a:rPr>
              <a:t>Key Business Insights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360000" y="1044000"/>
            <a:ext cx="5220000" cy="1080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Sales Growth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Sales grew from $484K in 2014 to $733K in 2017 — a 51.4% increase over 4 years, indicating a positive overall trend.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940000" y="1044000"/>
            <a:ext cx="5220000" cy="1080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Furniture Profitability Risk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Furniture generates 32.3% of total sales but only 6.4% of total profit ($18,451). Pricing and cost structure warrant review.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360000" y="2268000"/>
            <a:ext cx="5220000" cy="1080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Tables Sub-Category Loss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Tables sub-category shows -$17,725 total profit. Deep discounting (avg 30%+) is strongly associated with this loss.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940000" y="2268000"/>
            <a:ext cx="5220000" cy="1080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Technology is Most Profitable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Copiers sub-category alone generated $55,617 profit. Technology drives 50.8% of total profit on 36.4% of sales.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360000" y="3492000"/>
            <a:ext cx="5220000" cy="1080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Discount-Profit Association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Discount-Profit correlation = -0.22. Higher discounts are associated with lower profit. This does not prove causation.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940000" y="3492000"/>
            <a:ext cx="5220000" cy="1080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301 Loss-Making Products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328"/>
                </a:solidFill>
              </a:rPr>
              <a:t>301 out of 1,850 products show negative total profit. These products need pricing or discount policy review.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</a:rPr>
              <a:t>Conclusion &amp; Future Scope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60000" y="1044000"/>
            <a:ext cx="52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8C4E0"/>
                </a:solidFill>
              </a:rPr>
              <a:t>Project Summary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360000" y="1404000"/>
            <a:ext cx="5220000" cy="4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This project demonstrates how Python-based data analytics can transform raw retail transaction data into business intelligence.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The dashboard analyzes 9,994 transactions across 4 years and provides: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8 KPI cards updated with live filters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10 dashboard tabs covering all analytical dimensions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20+ interactive Plotly charts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Dynamic business insights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Downloadable filtered dataset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The project covers the full data analytics pipeline: loading, cleaning, feature engineering, visualization, and insight generation — using only Python.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940000" y="1044000"/>
            <a:ext cx="52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8C4E0"/>
                </a:solidFill>
              </a:rPr>
              <a:t>Future Scope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940000" y="1404000"/>
            <a:ext cx="5220000" cy="4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1.  Sales Forecasting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   Use Prophet or ARIMA for time-series prediction.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2.  Customer Segmentation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   Apply K-Means clustering to identify customer groups.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3.  Predictive Analytics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   Build models to predict order profitability.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4.  Automated Reporting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   Generate scheduled PDF/Excel reports.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5.  Cloud Deployment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   Deploy to Streamlit Cloud or AWS.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6.  Real-time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DEEFF"/>
                </a:solidFill>
              </a:rPr>
              <a:t>     Connect to live sales databases for real-time dashboards.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360000" y="144000"/>
            <a:ext cx="11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E3A5F"/>
                </a:solidFill>
              </a:rPr>
              <a:t>Dashboard Screenshots — Overview &amp; Sales Analysis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360000" y="720000"/>
            <a:ext cx="11160000" cy="252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828000"/>
            <a:ext cx="5580000" cy="31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180000" y="3996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606A"/>
                </a:solidFill>
              </a:rPr>
              <a:t>Fig 1: Dashboard Overview — KPI Cards, Sidebar Filters &amp; Navigation Tabs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0000" y="828000"/>
            <a:ext cx="5580000" cy="31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6120000" y="3996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606A"/>
                </a:solidFill>
              </a:rPr>
              <a:t>Fig 2: Sales Analysis — Sales by Year, Quarter, Category &amp; Region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360000" y="144000"/>
            <a:ext cx="11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E3A5F"/>
                </a:solidFill>
              </a:rPr>
              <a:t>Dashboard Screenshots — Product &amp; Regional Analysis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60000" y="720000"/>
            <a:ext cx="11160000" cy="252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828000"/>
            <a:ext cx="5580000" cy="31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180000" y="3996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606A"/>
                </a:solidFill>
              </a:rPr>
              <a:t>Fig 3: Product Analysis — Top 10 Products by Sales &amp; Profit</a:t>
            </a:r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0000" y="828000"/>
            <a:ext cx="5580000" cy="31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6120000" y="3996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7606A"/>
                </a:solidFill>
              </a:rPr>
              <a:t>Fig 4: Regional Analysis — Sales &amp; Profit by Region (West leads both)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360000" y="144000"/>
            <a:ext cx="1116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E3A5F"/>
                </a:solidFill>
              </a:rPr>
              <a:t>Dashboard Screenshots — Business Insights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360000" y="720000"/>
            <a:ext cx="11160000" cy="252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08" y="828000"/>
            <a:ext cx="11659741" cy="43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 flipH="1" rot="-113">
            <a:off x="1437675" y="5389125"/>
            <a:ext cx="90924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7606A"/>
                </a:solidFill>
              </a:rPr>
              <a:t>Fig 5: Business Insights — Dynamic findings with Finding, Business Meaning &amp; Possible Action for each insight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360000" y="180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</a:rPr>
              <a:t>Project Links &amp; Deployment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360000" y="864000"/>
            <a:ext cx="11160000" cy="28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82D4"/>
              </a:solidFill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60000" y="1152000"/>
            <a:ext cx="1116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A8C4E0"/>
                </a:solidFill>
              </a:rPr>
              <a:t>GitHub Repository</a:t>
            </a:r>
            <a:endParaRPr sz="1900"/>
          </a:p>
        </p:txBody>
      </p:sp>
      <p:sp>
        <p:nvSpPr>
          <p:cNvPr id="176" name="Google Shape;176;p22"/>
          <p:cNvSpPr txBox="1"/>
          <p:nvPr/>
        </p:nvSpPr>
        <p:spPr>
          <a:xfrm>
            <a:off x="516000" y="1985563"/>
            <a:ext cx="111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7EC8F0"/>
                </a:solidFill>
              </a:rPr>
              <a:t>https://github.com/codedby-shreya/superstore-sales-profit-analytics</a:t>
            </a:r>
            <a:endParaRPr sz="2300"/>
          </a:p>
        </p:txBody>
      </p:sp>
      <p:sp>
        <p:nvSpPr>
          <p:cNvPr id="177" name="Google Shape;177;p22"/>
          <p:cNvSpPr txBox="1"/>
          <p:nvPr/>
        </p:nvSpPr>
        <p:spPr>
          <a:xfrm>
            <a:off x="360000" y="2747113"/>
            <a:ext cx="1116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DEEFF"/>
                </a:solidFill>
              </a:rPr>
              <a:t>Repository contains: app.py, requirements.txt, README.md, dataset, screenshots, and this presentation.</a:t>
            </a:r>
            <a:endParaRPr sz="1800"/>
          </a:p>
        </p:txBody>
      </p:sp>
      <p:sp>
        <p:nvSpPr>
          <p:cNvPr id="178" name="Google Shape;178;p22"/>
          <p:cNvSpPr txBox="1"/>
          <p:nvPr/>
        </p:nvSpPr>
        <p:spPr>
          <a:xfrm>
            <a:off x="516000" y="3690875"/>
            <a:ext cx="1116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C4E0"/>
                </a:solidFill>
              </a:rPr>
              <a:t>Streamlit Dashboard (Live Deployment)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735600" y="4090225"/>
            <a:ext cx="1116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DEEFF"/>
                </a:solidFill>
              </a:rPr>
              <a:t>Deploy via: https://share.streamlit.io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DDEEFF"/>
                </a:solidFill>
              </a:rPr>
              <a:t>Streamlit App </a:t>
            </a:r>
            <a:r>
              <a:rPr b="1" lang="en-US" sz="2300">
                <a:solidFill>
                  <a:srgbClr val="DDEEFF"/>
                </a:solidFill>
              </a:rPr>
              <a:t>:</a:t>
            </a:r>
            <a:r>
              <a:rPr lang="en-US" sz="2300">
                <a:solidFill>
                  <a:srgbClr val="DDEEFF"/>
                </a:solidFill>
              </a:rPr>
              <a:t> </a:t>
            </a:r>
            <a:r>
              <a:rPr lang="en-US" sz="2300">
                <a:solidFill>
                  <a:srgbClr val="DDEEFF"/>
                </a:solidFill>
              </a:rPr>
              <a:t>https://superstore-sales-profit-analytics-kz47lffxbtudfyffzbsbdt.streamlit.app/ </a:t>
            </a:r>
            <a:endParaRPr sz="2300">
              <a:solidFill>
                <a:srgbClr val="DDEE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DEEFF"/>
                </a:solidFill>
              </a:rPr>
              <a:t>Main file: app.py</a:t>
            </a:r>
            <a:endParaRPr sz="2100"/>
          </a:p>
        </p:txBody>
      </p:sp>
      <p:sp>
        <p:nvSpPr>
          <p:cNvPr id="180" name="Google Shape;180;p22"/>
          <p:cNvSpPr txBox="1"/>
          <p:nvPr/>
        </p:nvSpPr>
        <p:spPr>
          <a:xfrm>
            <a:off x="360000" y="5495450"/>
            <a:ext cx="1116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A8C4E0"/>
                </a:solidFill>
              </a:rPr>
              <a:t>Shreya Jha  |  Indian Institute of Technology Patna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A8C4E0"/>
                </a:solidFill>
              </a:rPr>
              <a:t>AICTE–BharatCares–IBM SkillsBuild Internship Program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